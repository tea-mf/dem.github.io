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24" Target="tableStyles.xml" Type="http://schemas.openxmlformats.org/officeDocument/2006/relationships/tableStyles"/>
  <Relationship Id="rId17" Target="slides/slide15.xml" Type="http://schemas.openxmlformats.org/officeDocument/2006/relationships/slide"/>
  <Relationship Id="rId7" Target="slides/slide5.xml" Type="http://schemas.openxmlformats.org/officeDocument/2006/relationships/slide"/>
  <Relationship Id="rId6" Target="slides/slide4.xml" Type="http://schemas.openxmlformats.org/officeDocument/2006/relationships/slide"/>
  <Relationship Id="rId14" Target="slides/slide12.xml" Type="http://schemas.openxmlformats.org/officeDocument/2006/relationships/slide"/>
  <Relationship Id="rId13" Target="slides/slide11.xml" Type="http://schemas.openxmlformats.org/officeDocument/2006/relationships/slide"/>
  <Relationship Id="rId22" Target="slides/slide20.xml" Type="http://schemas.openxmlformats.org/officeDocument/2006/relationships/slide"/>
  <Relationship Id="rId18" Target="slides/slide16.xml" Type="http://schemas.openxmlformats.org/officeDocument/2006/relationships/slide"/>
  <Relationship Id="rId4" Target="slides/slide2.xml" Type="http://schemas.openxmlformats.org/officeDocument/2006/relationships/slide"/>
  <Relationship Id="rId3" Target="slides/slide1.xml" Type="http://schemas.openxmlformats.org/officeDocument/2006/relationships/slide"/>
  <Relationship Id="rId12" Target="slides/slide10.xml" Type="http://schemas.openxmlformats.org/officeDocument/2006/relationships/slide"/>
  <Relationship Id="rId10" Target="slides/slide8.xml" Type="http://schemas.openxmlformats.org/officeDocument/2006/relationships/slide"/>
  <Relationship Id="rId19" Target="slides/slide17.xml" Type="http://schemas.openxmlformats.org/officeDocument/2006/relationships/slide"/>
  <Relationship Id="rId5" Target="slides/slide3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16" Target="slides/slide14.xml" Type="http://schemas.openxmlformats.org/officeDocument/2006/relationships/slide"/>
  <Relationship Id="rId20" Target="slides/slide18.xml" Type="http://schemas.openxmlformats.org/officeDocument/2006/relationships/slide"/>
  <Relationship Id="rId2" Target="slideMasters/slideMaster1.xml" Type="http://schemas.openxmlformats.org/officeDocument/2006/relationships/slideMaster"/>
  <Relationship Id="rId21" Target="slides/slide19.xml" Type="http://schemas.openxmlformats.org/officeDocument/2006/relationships/slide"/>
  <Relationship Id="rId9" Target="slides/slide7.xml" Type="http://schemas.openxmlformats.org/officeDocument/2006/relationships/slide"/>
  <Relationship Id="rId15" Target="slides/slide13.xml" Type="http://schemas.openxmlformats.org/officeDocument/2006/relationships/slide"/>
  <Relationship Id="rId23" Target="slides/slide21.xml" Type="http://schemas.openxmlformats.org/officeDocument/2006/relationships/slide"/>
  <Relationship Id="rId1" Target="theme/theme1.xml" Type="http://schemas.openxmlformats.org/officeDocument/2006/relationships/them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22" name="GroupShape 2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3" name="Shape 23"/>
          <p:cNvSpPr txBox="true"/>
          <p:nvPr isPhoto="false">
            <p:ph idx="0" type="title"/>
          </p:nvPr>
        </p:nvSpPr>
        <p:spPr>
          <a:xfrm flipH="false" flipV="false" rot="0"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defPPr/>
            <a:lvl1pPr algn="ctr" lvl="0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24" name="Shape 24"/>
          <p:cNvSpPr txBox="true"/>
          <p:nvPr isPhoto="false">
            <p:ph idx="1" type="subTitle"/>
          </p:nvPr>
        </p:nvSpPr>
        <p:spPr>
          <a:xfrm flipH="false" flipV="false" rot="0"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 sz="2400"/>
            </a:lvl1pPr>
            <a:lvl2pPr algn="ctr" indent="0" lvl="1" marL="457200">
              <a:buNone/>
              <a:defRPr sz="2000"/>
            </a:lvl2pPr>
            <a:lvl3pPr algn="ctr" indent="0" lvl="2" marL="914400">
              <a:buNone/>
              <a:defRPr sz="1800"/>
            </a:lvl3pPr>
            <a:lvl4pPr algn="ctr" indent="0" lvl="3" marL="1371600">
              <a:buNone/>
              <a:defRPr sz="1600"/>
            </a:lvl4pPr>
            <a:lvl5pPr algn="ctr" indent="0" lvl="4" marL="1828800">
              <a:buNone/>
              <a:defRPr sz="1600"/>
            </a:lvl5pPr>
            <a:lvl6pPr algn="ctr" indent="0" lvl="5" marL="2286000">
              <a:buNone/>
              <a:defRPr sz="1600"/>
            </a:lvl6pPr>
            <a:lvl7pPr algn="ctr" indent="0" lvl="6" marL="2743200">
              <a:buNone/>
              <a:defRPr sz="1600"/>
            </a:lvl7pPr>
            <a:lvl8pPr algn="ctr" indent="0" lvl="7" marL="3200400">
              <a:buNone/>
              <a:defRPr sz="1600"/>
            </a:lvl8pPr>
            <a:lvl9pPr algn="ctr" indent="0" lvl="8" marL="3657600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hidden="false" id="25" name="Shape 2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26" name="Shape 26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7" name="Shape 2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4ED013FA-63E7-4B47-B9B5-A5FEA94DE7E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41" name="GroupShape 4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2" name="Shape 4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43" name="Shape 4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44" name="Shape 4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45" name="Shape 4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6" name="Shape 4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9931C42D-3FE4-498B-B0CA-1266239651C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xfrm flipH="false" flipV="false" rot="0"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9" name="Shape 9"/>
          <p:cNvSpPr txBox="true"/>
          <p:nvPr isPhoto="false">
            <p:ph idx="1" type="body"/>
          </p:nvPr>
        </p:nvSpPr>
        <p:spPr>
          <a:xfrm flipH="false" flipV="false" rot="0"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10" name="Shape 1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11" name="Shape 1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2" name="Shape 1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3035C50-C8D6-4E75-BA58-F34A88FD89A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19" name="Shape 19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20" name="Shape 2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1" name="Shape 2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5AFBA1F-615F-4394-9E33-9E1CA298B3F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28" name="GroupShape 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9" name="Shape 2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30" name="Shape 30"/>
          <p:cNvSpPr txBox="true"/>
          <p:nvPr isPhoto="false">
            <p:ph idx="1" type="body"/>
          </p:nvPr>
        </p:nvSpPr>
        <p:spPr>
          <a:xfrm flipH="false" flipV="false" rot="0"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31" name="Shape 31"/>
          <p:cNvSpPr txBox="true"/>
          <p:nvPr isPhoto="false">
            <p:ph idx="2" type="body"/>
          </p:nvPr>
        </p:nvSpPr>
        <p:spPr>
          <a:xfrm flipH="false" flipV="false" rot="0"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32" name="Shape 3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33" name="Shape 3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4" name="Shape 3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C22BDC5-7A36-49D0-8063-3CA88BD86E17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" name="Shape 1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15" name="Shape 1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6" name="Shape 1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7E3FDC22-0C83-499A-919C-D2B1D9959E4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47" name="GroupShape 4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8" name="Shape 48"/>
          <p:cNvSpPr txBox="true"/>
          <p:nvPr isPhoto="false">
            <p:ph idx="0" type="title"/>
          </p:nvPr>
        </p:nvSpPr>
        <p:spPr>
          <a:xfrm flipH="false" flipV="false" rot="0">
            <a:off x="839788" y="365125"/>
            <a:ext cx="10515600" cy="1325562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49" name="Shape 49"/>
          <p:cNvSpPr txBox="true"/>
          <p:nvPr isPhoto="false">
            <p:ph idx="1" type="body"/>
          </p:nvPr>
        </p:nvSpPr>
        <p:spPr>
          <a:xfrm flipH="false" flipV="false" rot="0">
            <a:off x="839788" y="1681163"/>
            <a:ext cx="5157787" cy="823911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50" name="Shape 50"/>
          <p:cNvSpPr txBox="true"/>
          <p:nvPr isPhoto="false">
            <p:ph idx="2" type="body"/>
          </p:nvPr>
        </p:nvSpPr>
        <p:spPr>
          <a:xfrm flipH="false" flipV="false" rot="0"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51" name="Shape 51"/>
          <p:cNvSpPr txBox="true"/>
          <p:nvPr isPhoto="false">
            <p:ph idx="3" type="body"/>
          </p:nvPr>
        </p:nvSpPr>
        <p:spPr>
          <a:xfrm flipH="false" flipV="false" rot="0">
            <a:off x="6172200" y="1681163"/>
            <a:ext cx="5183187" cy="823911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52" name="Shape 52"/>
          <p:cNvSpPr txBox="true"/>
          <p:nvPr isPhoto="false">
            <p:ph idx="4" type="body"/>
          </p:nvPr>
        </p:nvSpPr>
        <p:spPr>
          <a:xfrm flipH="false" flipV="false" rot="0">
            <a:off x="6172200" y="2505075"/>
            <a:ext cx="51831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53" name="Shape 5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54" name="Shape 5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5" name="Shape 5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BD23809-932F-407B-AABB-7B4B4F9AF7DF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62" name="GroupShape 6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3" name="Shape 63"/>
          <p:cNvSpPr txBox="true"/>
          <p:nvPr isPhoto="false">
            <p:ph idx="0" type="title"/>
          </p:nvPr>
        </p:nvSpPr>
        <p:spPr>
          <a:xfrm flipH="false" flipV="false" rot="0"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64" name="Shape 64"/>
          <p:cNvSpPr txBox="true"/>
          <p:nvPr isPhoto="false">
            <p:ph idx="1" type="body"/>
          </p:nvPr>
        </p:nvSpPr>
        <p:spPr>
          <a:xfrm flipH="false" flipV="false" rot="0">
            <a:off x="5183188" y="987425"/>
            <a:ext cx="6172199" cy="4873625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65" name="Shape 65"/>
          <p:cNvSpPr txBox="true"/>
          <p:nvPr isPhoto="false">
            <p:ph idx="2" type="body"/>
          </p:nvPr>
        </p:nvSpPr>
        <p:spPr>
          <a:xfrm flipH="false" flipV="false" rot="0"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600"/>
            </a:lvl1pPr>
            <a:lvl2pPr indent="0" lvl="1" marL="457200">
              <a:buNone/>
              <a:defRPr sz="1400"/>
            </a:lvl2pPr>
            <a:lvl3pPr indent="0" lvl="2" marL="914400">
              <a:buNone/>
              <a:defRPr sz="1200"/>
            </a:lvl3pPr>
            <a:lvl4pPr indent="0" lvl="3" marL="1371600">
              <a:buNone/>
              <a:defRPr sz="1000"/>
            </a:lvl4pPr>
            <a:lvl5pPr indent="0" lvl="4" marL="1828800">
              <a:buNone/>
              <a:defRPr sz="1000"/>
            </a:lvl5pPr>
            <a:lvl6pPr indent="0" lvl="5" marL="2286000">
              <a:buNone/>
              <a:defRPr sz="1000"/>
            </a:lvl6pPr>
            <a:lvl7pPr indent="0" lvl="6" marL="2743200">
              <a:buNone/>
              <a:defRPr sz="1000"/>
            </a:lvl7pPr>
            <a:lvl8pPr indent="0" lvl="7" marL="3200400">
              <a:buNone/>
              <a:defRPr sz="1000"/>
            </a:lvl8pPr>
            <a:lvl9pPr indent="0" lvl="8" marL="365760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66" name="Shape 6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67" name="Shape 6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8" name="Shape 6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7A338243-44DF-4AEC-935D-5B6DD87AA7D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69" name="GroupShape 6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0" name="Shape 70"/>
          <p:cNvSpPr txBox="true"/>
          <p:nvPr isPhoto="false">
            <p:ph idx="0" type="title"/>
          </p:nvPr>
        </p:nvSpPr>
        <p:spPr>
          <a:xfrm flipH="false" flipV="false" rot="0"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71" name="Shape 71"/>
          <p:cNvSpPr txBox="true"/>
          <p:nvPr isPhoto="false">
            <p:ph idx="1" type="body"/>
          </p:nvPr>
        </p:nvSpPr>
        <p:spPr>
          <a:xfrm flipH="false" flipV="false" rot="0">
            <a:off x="5183188" y="987425"/>
            <a:ext cx="6172199" cy="4873625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72" name="Shape 72"/>
          <p:cNvSpPr txBox="true"/>
          <p:nvPr isPhoto="false">
            <p:ph idx="2" type="body"/>
          </p:nvPr>
        </p:nvSpPr>
        <p:spPr>
          <a:xfrm flipH="false" flipV="false" rot="0"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600"/>
            </a:lvl1pPr>
            <a:lvl2pPr indent="0" lvl="1" marL="457200">
              <a:buNone/>
              <a:defRPr sz="1400"/>
            </a:lvl2pPr>
            <a:lvl3pPr indent="0" lvl="2" marL="914400">
              <a:buNone/>
              <a:defRPr sz="1200"/>
            </a:lvl3pPr>
            <a:lvl4pPr indent="0" lvl="3" marL="1371600">
              <a:buNone/>
              <a:defRPr sz="1000"/>
            </a:lvl4pPr>
            <a:lvl5pPr indent="0" lvl="4" marL="1828800">
              <a:buNone/>
              <a:defRPr sz="1000"/>
            </a:lvl5pPr>
            <a:lvl6pPr indent="0" lvl="5" marL="2286000">
              <a:buNone/>
              <a:defRPr sz="1000"/>
            </a:lvl6pPr>
            <a:lvl7pPr indent="0" lvl="6" marL="2743200">
              <a:buNone/>
              <a:defRPr sz="1000"/>
            </a:lvl7pPr>
            <a:lvl8pPr indent="0" lvl="7" marL="3200400">
              <a:buNone/>
              <a:defRPr sz="1000"/>
            </a:lvl8pPr>
            <a:lvl9pPr indent="0" lvl="8" marL="365760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C28531C6-201C-41F0-A9C1-74C72400C59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56" name="GroupShape 5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7" name="Shape 5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58" name="Shape 58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59" name="Shape 59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60" name="Shape 6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1" name="Shape 6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47841861-FA98-4717-B651-78AA17DA8B4D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35" name="GroupShape 3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6" name="Shape 36"/>
          <p:cNvSpPr txBox="true"/>
          <p:nvPr isPhoto="false">
            <p:ph idx="0" type="title"/>
          </p:nvPr>
        </p:nvSpPr>
        <p:spPr>
          <a:xfrm flipH="false" flipV="false" rot="0"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hidden="false" id="37" name="Shape 37"/>
          <p:cNvSpPr txBox="true"/>
          <p:nvPr isPhoto="false">
            <p:ph idx="1" type="body"/>
          </p:nvPr>
        </p:nvSpPr>
        <p:spPr>
          <a:xfrm flipH="false" flipV="false" rot="0"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38" name="Shape 3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15.05.2026</a:t>
            </a:r>
          </a:p>
        </p:txBody>
      </p:sp>
      <p:sp>
        <p:nvSpPr>
          <p:cNvPr hidden="false" id="39" name="Shape 3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0" name="Shape 4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FB577009-1136-474A-8E64-56905B43FC5F}" type="slidenum">
              <a:t>&lt;#&gt;</a:t>
            </a:fld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838200" y="365125"/>
            <a:ext cx="10515600" cy="1325562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Образец заголовка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15.05.2026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B64DBA9-265E-4F93-B007-B284DA5FEBD8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l" lvl="0">
        <a:lnSpc>
          <a:spcPct val="90000"/>
        </a:lnSpc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228600" lvl="0" marL="2286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algn="l" indent="-228600" lvl="1" marL="6858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8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9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20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21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90000"/>
              </a:lnSpc>
              <a:buNone/>
            </a:pPr>
            <a:r>
              <a:t>Программирование</a:t>
            </a:r>
          </a:p>
        </p:txBody>
      </p:sp>
      <p:sp>
        <p:nvSpPr>
          <p:cNvPr hidden="false" id="78" name="Shape 78"/>
          <p:cNvSpPr txBox="true"/>
          <p:nvPr isPhoto="false">
            <p:ph idx="1" type="sub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 indent="0" marL="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9" name="GroupShape 7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0" name="Shape 80"/>
          <p:cNvSpPr txBox="true"/>
          <p:nvPr isPhoto="false">
            <p:ph idx="0" type="title"/>
          </p:nvPr>
        </p:nvSpPr>
        <p:spPr>
          <a:xfrm flipH="false" flipV="false" rot="0">
            <a:off x="838200" y="365125"/>
            <a:ext cx="10515600" cy="1834820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длину стороны квадрата. Вывести на экран площадь квадрата.</a:t>
            </a:r>
          </a:p>
        </p:txBody>
      </p:sp>
      <p:sp>
        <p:nvSpPr>
          <p:cNvPr hidden="false" id="81" name="Shape 81"/>
          <p:cNvSpPr txBox="true"/>
          <p:nvPr isPhoto="false"/>
        </p:nvSpPr>
        <p:spPr>
          <a:xfrm flipH="false" flipV="false" rot="0">
            <a:off x="816073" y="2733958"/>
            <a:ext cx="5458560" cy="202194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у пользователя длину стороны квадрата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side = float(input("Введите длину стороны квадрата: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Вычисляем площадь квадрата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area = side ** 2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Выводим результат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print(f"Площадь квадрата равна: {area}")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2" name="GroupShape 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3" name="Shape 83"/>
          <p:cNvSpPr txBox="true"/>
          <p:nvPr isPhoto="false">
            <p:ph idx="0" type="title"/>
          </p:nvPr>
        </p:nvSpPr>
        <p:spPr>
          <a:xfrm flipH="false" flipV="false" rot="0">
            <a:off x="819338" y="170038"/>
            <a:ext cx="10515600" cy="2708917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длины сторон прямоугольника. Вывести на экран площадь прямоугольника.</a:t>
            </a:r>
          </a:p>
        </p:txBody>
      </p:sp>
      <p:sp>
        <p:nvSpPr>
          <p:cNvPr hidden="false" id="84" name="Shape 84"/>
          <p:cNvSpPr txBox="true"/>
          <p:nvPr isPhoto="false"/>
        </p:nvSpPr>
        <p:spPr>
          <a:xfrm flipH="false" flipV="false" rot="0">
            <a:off x="853796" y="3365814"/>
            <a:ext cx="3600002" cy="1767916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у пользователя длины сторон прямоугольника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float(input("Введите длину первой стороны: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 float(input("Введите длину второй стороны: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Вычисляем площадь прямоугольника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area = a * b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Выводим результат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print(f"Площадь прямоугольника равна: {area}")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5" name="GroupShape 8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6" name="Shape 86"/>
          <p:cNvSpPr txBox="true"/>
          <p:nvPr isPhoto="false">
            <p:ph idx="0" type="title"/>
          </p:nvPr>
        </p:nvSpPr>
        <p:spPr>
          <a:xfrm flipH="false" flipV="false" rot="0">
            <a:off x="423249" y="487724"/>
            <a:ext cx="10515600" cy="2117741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два числа. Вывести на экран их среднее арифметическое.</a:t>
            </a:r>
          </a:p>
        </p:txBody>
      </p:sp>
      <p:sp>
        <p:nvSpPr>
          <p:cNvPr hidden="false" id="87" name="Shape 87"/>
          <p:cNvSpPr txBox="true"/>
          <p:nvPr isPhoto="false"/>
        </p:nvSpPr>
        <p:spPr>
          <a:xfrm flipH="false" flipV="false" rot="0">
            <a:off x="485999" y="3007448"/>
            <a:ext cx="3600002" cy="1767915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у пользователя два числа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num1 = float(input("Введите первое число: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num2 = float(input("Введите второе число: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Вычисляем среднее арифметическое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 = (num1 + num2) / 2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Выводим результат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print(f"Среднее арифметическое равно: {average}")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8" name="GroupShape 8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9" name="Shape 89"/>
          <p:cNvSpPr txBox="true"/>
          <p:nvPr isPhoto="false">
            <p:ph idx="0" type="title"/>
          </p:nvPr>
        </p:nvSpPr>
        <p:spPr>
          <a:xfrm flipH="false" flipV="false" rot="0">
            <a:off x="857060" y="365125"/>
            <a:ext cx="10515600" cy="1881972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два числа. Вывести на экран их среднее геометрическое.</a:t>
            </a:r>
          </a:p>
        </p:txBody>
      </p:sp>
      <p:sp>
        <p:nvSpPr>
          <p:cNvPr hidden="false" id="90" name="Shape 90"/>
          <p:cNvSpPr txBox="true"/>
          <p:nvPr isPhoto="false"/>
        </p:nvSpPr>
        <p:spPr>
          <a:xfrm flipH="false" flipV="false" rot="0">
            <a:off x="816072" y="2762250"/>
            <a:ext cx="3600002" cy="1767916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math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у пользователя два числа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num1 = float(input("Введите первое число: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num2 = float(input("Введите второе число: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Высчитываем результат и выводим его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num1 &gt;= 0 and num2 &gt;= 0: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geometric_mean = math.sqrt(num1 * num2)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print(f"Среднее геометрическое равно: {geometric_mean}")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print("Ошибка: среднее геометрическое определено только для неотрицательных чисел.")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1" name="GroupShape 9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2" name="Shape 92"/>
          <p:cNvSpPr txBox="true"/>
          <p:nvPr isPhoto="false">
            <p:ph idx="0" type="title"/>
          </p:nvPr>
        </p:nvSpPr>
        <p:spPr>
          <a:xfrm flipH="false" flipV="false" rot="0">
            <a:off x="838200" y="320644"/>
            <a:ext cx="10515600" cy="1851008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длины катетов прямоугольного треугольника. Вывести на экран его гипотенузу и площадь.</a:t>
            </a:r>
          </a:p>
        </p:txBody>
      </p:sp>
      <p:sp>
        <p:nvSpPr>
          <p:cNvPr hidden="false" id="93" name="Shape 93"/>
          <p:cNvSpPr txBox="true"/>
          <p:nvPr isPhoto="false"/>
        </p:nvSpPr>
        <p:spPr>
          <a:xfrm flipH="false" flipV="false" rot="0">
            <a:off x="910379" y="2394453"/>
            <a:ext cx="3600002" cy="4186374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math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длины катетов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float(input("Введите длину первого катета: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 float(input("Введите длину второго катета: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Вычисляем гипотенузу по теореме Пифагора: c = √(a² + b²)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 &gt; 0 and b &gt; 0: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hypotenuse = math.sqrt(a**2 + b**2)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# Вычисляем площадь прямоугольного треугольника: S = (a * b) / 2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area = (a * b) / 2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# Выводим результаты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print(f"Гипотенуза: {hypotenuse}")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print(f"Площадь: {area}")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else: print("Ошибка: стороны должны быть положительными.")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4" name="GroupShape 9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5" name="Shape 95"/>
          <p:cNvSpPr txBox="true"/>
          <p:nvPr isPhoto="false">
            <p:ph idx="0" type="title"/>
          </p:nvPr>
        </p:nvSpPr>
        <p:spPr>
          <a:xfrm flipH="false" flipV="false" rot="0">
            <a:off x="838200" y="365125"/>
            <a:ext cx="10515600" cy="2494968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число </a:t>
            </a:r>
            <a:r>
              <a:t>N. </a:t>
            </a:r>
            <a:r>
              <a:t>Вывести на экран через запятую (</a:t>
            </a:r>
            <a:r>
              <a:t>N-1</a:t>
            </a:r>
            <a:r>
              <a:t>)</a:t>
            </a:r>
            <a:r>
              <a:rPr baseline="30000"/>
              <a:t>2</a:t>
            </a:r>
            <a:r>
              <a:t>, N</a:t>
            </a:r>
            <a:r>
              <a:rPr baseline="30000"/>
              <a:t>2</a:t>
            </a:r>
            <a:r>
              <a:t>, (N+1)</a:t>
            </a:r>
            <a:r>
              <a:rPr baseline="30000"/>
              <a:t>2</a:t>
            </a:r>
            <a:endParaRPr baseline="30000"/>
          </a:p>
        </p:txBody>
      </p:sp>
      <p:sp>
        <p:nvSpPr>
          <p:cNvPr hidden="false" id="96" name="Shape 96"/>
          <p:cNvSpPr txBox="true"/>
          <p:nvPr isPhoto="false"/>
        </p:nvSpPr>
        <p:spPr>
          <a:xfrm flipH="false" flipV="false" rot="0">
            <a:off x="853795" y="2988586"/>
            <a:ext cx="3600002" cy="1953951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число 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N = float(input("Введите число N: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Вычисляем квадраты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val1 = (N - 1) ** 2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val2 = N ** 2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val3 = (N + 1) ** 2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Выводим результат через запятую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print(f"{val1:g}, {val2:g}, {val3:g}")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7" name="GroupShape 9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8" name="Shape 98"/>
          <p:cNvSpPr txBox="true"/>
          <p:nvPr isPhoto="false">
            <p:ph idx="0" type="title"/>
          </p:nvPr>
        </p:nvSpPr>
        <p:spPr>
          <a:xfrm flipH="false" flipV="false" rot="0">
            <a:off x="838200" y="251956"/>
            <a:ext cx="10515600" cy="2325216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год. Вывести на экран ответ, является ли год високосным.</a:t>
            </a:r>
          </a:p>
        </p:txBody>
      </p:sp>
      <p:sp>
        <p:nvSpPr>
          <p:cNvPr hidden="false" id="99" name="Shape 99"/>
          <p:cNvSpPr txBox="true"/>
          <p:nvPr isPhoto="false"/>
        </p:nvSpPr>
        <p:spPr>
          <a:xfrm flipH="false" flipV="false" rot="0">
            <a:off x="834934" y="3177200"/>
            <a:ext cx="3600002" cy="1767915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calendar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 = int(input("Введите год: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calendar.isleap(year):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print(f"{year} год — високосный")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print(f"{year} год — не високосный")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0" name="GroupShape 10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1" name="Shape 101"/>
          <p:cNvSpPr txBox="true"/>
          <p:nvPr isPhoto="false">
            <p:ph idx="0" type="title"/>
          </p:nvPr>
        </p:nvSpPr>
        <p:spPr>
          <a:xfrm flipH="false" flipV="false" rot="0">
            <a:off x="479833" y="311213"/>
            <a:ext cx="10515600" cy="2577173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целое число. Программа должна ответить, четным или нечетным является это число.</a:t>
            </a:r>
          </a:p>
        </p:txBody>
      </p:sp>
      <p:sp>
        <p:nvSpPr>
          <p:cNvPr hidden="false" id="102" name="Shape 102"/>
          <p:cNvSpPr txBox="true"/>
          <p:nvPr isPhoto="false"/>
        </p:nvSpPr>
        <p:spPr>
          <a:xfrm flipH="false" flipV="false" rot="0">
            <a:off x="570875" y="3252644"/>
            <a:ext cx="3600002" cy="1767916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у пользователя целое число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 = int(input("Введите целое число: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Проверяем остаток от деления на 2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num % 2 == 0: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print(f"Число {num} — чётное")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print(f"Число {num} — нечётное")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3" name="GroupShape 10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4" name="Shape 104"/>
          <p:cNvSpPr txBox="true"/>
          <p:nvPr isPhoto="false">
            <p:ph idx="0" type="title"/>
          </p:nvPr>
        </p:nvSpPr>
        <p:spPr>
          <a:xfrm flipH="false" flipV="false" rot="0">
            <a:off x="451541" y="28292"/>
            <a:ext cx="10515600" cy="2935539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</a:p>
        </p:txBody>
      </p:sp>
      <p:sp>
        <p:nvSpPr>
          <p:cNvPr hidden="false" id="105" name="Shape 105"/>
          <p:cNvSpPr txBox="true"/>
          <p:nvPr isPhoto="false"/>
        </p:nvSpPr>
        <p:spPr>
          <a:xfrm flipH="false" flipV="false" rot="0">
            <a:off x="627459" y="3460121"/>
            <a:ext cx="3600002" cy="3070161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у пользователя два числа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float(input("Введите первое число: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 float(input("Введите второе число: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Проверяем условие и вычисляем результат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 &lt; b: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result = a + b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result = a - b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Выводим результат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print(f"Результат: {result:g}")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6" name="GroupShape 10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7" name="Shape 107"/>
          <p:cNvSpPr txBox="true"/>
          <p:nvPr isPhoto="false">
            <p:ph idx="0" type="title"/>
          </p:nvPr>
        </p:nvSpPr>
        <p:spPr>
          <a:xfrm flipH="false" flipV="false" rot="0">
            <a:off x="838200" y="365125"/>
            <a:ext cx="10515600" cy="2183755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Распечатать первые 16 степеней числа 2.</a:t>
            </a:r>
          </a:p>
        </p:txBody>
      </p:sp>
      <p:sp>
        <p:nvSpPr>
          <p:cNvPr hidden="false" id="108" name="Shape 108"/>
          <p:cNvSpPr txBox="true"/>
          <p:nvPr isPhoto="false"/>
        </p:nvSpPr>
        <p:spPr>
          <a:xfrm flipH="false" flipV="false" rot="0">
            <a:off x="919810" y="3148908"/>
            <a:ext cx="3600002" cy="651705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print("Первые 16 степеней числа 2:")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in range(16):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print(f"2^{i} = {2 ** i}")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9" name="GroupShape 10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0" name="Shape 110"/>
          <p:cNvSpPr txBox="true"/>
          <p:nvPr isPhoto="false">
            <p:ph idx="0" type="title"/>
          </p:nvPr>
        </p:nvSpPr>
        <p:spPr>
          <a:xfrm flipH="false" flipV="false" rot="0">
            <a:off x="838200" y="365125"/>
            <a:ext cx="10515600" cy="1655636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10 целых чисел. Подсчитать, сколько среди них четных чисел.</a:t>
            </a:r>
          </a:p>
        </p:txBody>
      </p:sp>
      <p:sp>
        <p:nvSpPr>
          <p:cNvPr hidden="false" id="111" name="Shape 111"/>
          <p:cNvSpPr txBox="true"/>
          <p:nvPr isPhoto="false"/>
        </p:nvSpPr>
        <p:spPr>
          <a:xfrm flipH="false" flipV="false" rot="0">
            <a:off x="938671" y="2498190"/>
            <a:ext cx="3600002" cy="1953951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count_even = 0  # Счетчик четных чисел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print("Введите 10 целых чисел:")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in range(10):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num = int(input(f"Число {i + 1}: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if num % 2 == 0: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count_even +=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print(f"Количество четных чисел: {count_even}")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2" name="GroupShape 1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3" name="Shape 113"/>
          <p:cNvSpPr txBox="true"/>
          <p:nvPr isPhoto="false">
            <p:ph idx="0" type="title"/>
          </p:nvPr>
        </p:nvSpPr>
        <p:spPr>
          <a:xfrm flipH="false" flipV="false" rot="0">
            <a:off x="479833" y="252756"/>
            <a:ext cx="10515600" cy="2324417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10 целых чисел. Подсчитать, сколько среди них положительных, сколько отрицательных и сколько нулей.</a:t>
            </a:r>
          </a:p>
        </p:txBody>
      </p:sp>
      <p:sp>
        <p:nvSpPr>
          <p:cNvPr hidden="false" id="114" name="Shape 114"/>
          <p:cNvSpPr txBox="true"/>
          <p:nvPr isPhoto="false"/>
        </p:nvSpPr>
        <p:spPr>
          <a:xfrm flipH="false" flipV="false" rot="0">
            <a:off x="759489" y="2752819"/>
            <a:ext cx="3600002" cy="4000339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positive = 0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negative = 0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zeros = 0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print("Введите 10 целых чисел:")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in range(10):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num = int(input(f"Число {i + 1}: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if num &gt; 0: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positive +=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elif num &lt; 0: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negative +=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else: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zeros +=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print(f"Положительных: {positive}")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print(f"Отрицательных: {negative}")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print(f"Нулей: {zeros}")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5" name="GroupShape 11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6" name="Shape 116"/>
          <p:cNvSpPr txBox="true"/>
          <p:nvPr isPhoto="false">
            <p:ph idx="0" type="title"/>
          </p:nvPr>
        </p:nvSpPr>
        <p:spPr>
          <a:xfrm flipH="false" flipV="false" rot="0">
            <a:off x="4780229" y="317971"/>
            <a:ext cx="6168051" cy="4315092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10 целых чисел. Найти разницу между наибольшим и наименьшим.</a:t>
            </a:r>
          </a:p>
        </p:txBody>
      </p:sp>
      <p:sp>
        <p:nvSpPr>
          <p:cNvPr hidden="false" id="117" name="Shape 117"/>
          <p:cNvSpPr txBox="true"/>
          <p:nvPr isPhoto="false"/>
        </p:nvSpPr>
        <p:spPr>
          <a:xfrm flipH="false" flipV="false" rot="0">
            <a:off x="674613" y="857249"/>
            <a:ext cx="3600002" cy="5302585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Инициализируем список для хранения чисел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numbers = []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print("Введите 10 целых чисел:")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in range(10):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num = int(input(f"Число {i + 1}: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numbers.append(num)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Находим максимальное и минимальное значения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max_num = max(numbers)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min_num = min(numbers)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Вычисляем разницу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difference = max_num - min_num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print(f"Наибольшее число: {max_num}")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print(f"Наименьшее число: {min_num}")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print(f"Разница между ними: {difference}")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8" name="GroupShape 11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9" name="Shape 119"/>
          <p:cNvSpPr txBox="true"/>
          <p:nvPr isPhoto="false">
            <p:ph idx="0" type="title"/>
          </p:nvPr>
        </p:nvSpPr>
        <p:spPr>
          <a:xfrm flipH="false" flipV="false" rot="0">
            <a:off x="4469016" y="122599"/>
            <a:ext cx="6620724" cy="4642495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массив А из 10 целых чисел. Подсчитать количество чисел, равных максимальному элементу массива.</a:t>
            </a:r>
          </a:p>
        </p:txBody>
      </p:sp>
      <p:sp>
        <p:nvSpPr>
          <p:cNvPr hidden="false" id="120" name="Shape 120"/>
          <p:cNvSpPr txBox="true"/>
          <p:nvPr isPhoto="false"/>
        </p:nvSpPr>
        <p:spPr>
          <a:xfrm flipH="false" flipV="false" rot="0">
            <a:off x="608598" y="1253339"/>
            <a:ext cx="3600002" cy="4372409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10 целых чисел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print("Введите 10 целых чисел:")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[]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in range(10):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num = int(input(f"Число {i + 1}: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A.append(num)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Находим максимальный элемент в массиве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max_element = max(A)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Подсчитываем, сколько раз максимальный элемент встречается в массиве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count_max = A.count(max_element)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Выводим результат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print(f"Массив: {A}")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print(f"Максимальный элемент: {max_element}")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print(f"Количество чисел, равных максимальному: {count_max}")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1" name="GroupShape 12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2" name="Shape 122"/>
          <p:cNvSpPr txBox="true"/>
          <p:nvPr isPhoto="false">
            <p:ph idx="0" type="title"/>
          </p:nvPr>
        </p:nvSpPr>
        <p:spPr>
          <a:xfrm flipH="false" flipV="false" rot="0">
            <a:off x="216112" y="72772"/>
            <a:ext cx="6844224" cy="6550166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</a:p>
        </p:txBody>
      </p:sp>
      <p:sp>
        <p:nvSpPr>
          <p:cNvPr hidden="false" id="123" name="Shape 123"/>
          <p:cNvSpPr txBox="true"/>
          <p:nvPr isPhoto="false"/>
        </p:nvSpPr>
        <p:spPr>
          <a:xfrm flipH="false" flipV="false" rot="0">
            <a:off x="7709909" y="621482"/>
            <a:ext cx="3600002" cy="5674655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10 целых чисел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print("Введите 10 целых чисел:")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[]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in range(10):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num = int(input(f"Элемент с индексом {i}: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A.append(num)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Инициализируем суммы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sum_even_indices = 0  # Сумма элементов с четными индексами (0, 2, ...)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sum_odd_indices = 0   # Сумма элементов с нечетными индексами (1, 3, ...)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Проходим по массиву и распределяем суммы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in range(10):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if i % 2 == 0: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sum_even_indices += A[i]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else: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sum_odd_indices += A[i]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Вычисляем разницу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difference = sum_even_indices - sum_odd_indices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Выводим результат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print(f"Массив: {A}")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print(f"Сумма элементов с четными индексами (0, 2, 4, 6, 8): {sum_even_indices}")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print(f"Сумма элементов с нечетными индексами (1, 3, 5, 7, 9): {sum_odd_indices}")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print(f"Разница (четные индексы - нечетные индексы): {difference}")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4" name="GroupShape 12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5" name="Shape 125"/>
          <p:cNvSpPr txBox="true"/>
          <p:nvPr isPhoto="false">
            <p:ph idx="0" type="title"/>
          </p:nvPr>
        </p:nvSpPr>
        <p:spPr>
          <a:xfrm flipH="false" flipV="false" rot="0">
            <a:off x="809907" y="374555"/>
            <a:ext cx="10515600" cy="2249770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Подсчитать количество арабских цифр в тексте, введенном пользователем с клавиатуры.</a:t>
            </a:r>
          </a:p>
        </p:txBody>
      </p:sp>
      <p:sp>
        <p:nvSpPr>
          <p:cNvPr hidden="false" id="126" name="Shape 126"/>
          <p:cNvSpPr txBox="true"/>
          <p:nvPr isPhoto="false"/>
        </p:nvSpPr>
        <p:spPr>
          <a:xfrm flipH="false" flipV="false" rot="0">
            <a:off x="957534" y="2979155"/>
            <a:ext cx="3600002" cy="2884127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текст у пользователя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= input("Введите текст: 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Инициализируем счетчик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count_digits = 0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Проходим по каждому символу в строке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char in text: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if char.isdigit():  # Проверяет, является ли символ цифрой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count_digits +=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Выводим результат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print(f"Количество арабских цифр в тексте: {count_digits}")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7" name="GroupShape 12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8" name="Shape 128"/>
          <p:cNvSpPr txBox="true"/>
          <p:nvPr isPhoto="false">
            <p:ph idx="0" type="title"/>
          </p:nvPr>
        </p:nvSpPr>
        <p:spPr>
          <a:xfrm flipH="false" flipV="false" rot="0">
            <a:off x="838200" y="365125"/>
            <a:ext cx="10515600" cy="2212048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Убрать из строки, введенной пользователем все пробелы, и распечатать ее.</a:t>
            </a:r>
          </a:p>
        </p:txBody>
      </p:sp>
      <p:sp>
        <p:nvSpPr>
          <p:cNvPr hidden="false" id="129" name="Shape 129"/>
          <p:cNvSpPr txBox="true"/>
          <p:nvPr isPhoto="false"/>
        </p:nvSpPr>
        <p:spPr>
          <a:xfrm flipH="false" flipV="false" rot="0">
            <a:off x="948103" y="3111185"/>
            <a:ext cx="3600002" cy="1953951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строку у пользователя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= input("Введите строку: 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Убираем все пробелы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text_without_spaces = text.replace(" ", "")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Выводим результат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print("Результат:", text_without_spaces)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0" name="GroupShape 13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1" name="Shape 131"/>
          <p:cNvSpPr txBox="true"/>
          <p:nvPr isPhoto="false">
            <p:ph idx="0" type="title"/>
          </p:nvPr>
        </p:nvSpPr>
        <p:spPr>
          <a:xfrm flipH="false" flipV="false" rot="0">
            <a:off x="526987" y="374555"/>
            <a:ext cx="10515600" cy="2344077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Распечатать первое слово из строки, введенной пользователем с клавиатуры.</a:t>
            </a:r>
          </a:p>
        </p:txBody>
      </p:sp>
      <p:sp>
        <p:nvSpPr>
          <p:cNvPr hidden="false" id="132" name="Shape 132"/>
          <p:cNvSpPr txBox="true"/>
          <p:nvPr isPhoto="false"/>
        </p:nvSpPr>
        <p:spPr>
          <a:xfrm flipH="false" flipV="false" rot="0">
            <a:off x="665181" y="3262076"/>
            <a:ext cx="3600002" cy="2698092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Запрашиваем строку у пользователя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= input("Введите строку: 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Разбиваем строку на список слов (по пробелам)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words = text.split()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Проверяем, есть ли слова в строке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words: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print(f"Первое слово: {words[0]}")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print("Строка пуста или состоит только из пробелов.")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3" name="GroupShape 13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4" name="Shape 134"/>
          <p:cNvSpPr txBox="true"/>
          <p:nvPr isPhoto="false">
            <p:ph idx="0" type="title"/>
          </p:nvPr>
        </p:nvSpPr>
        <p:spPr>
          <a:xfrm flipH="false" flipV="false" rot="0">
            <a:off x="460971" y="35049"/>
            <a:ext cx="10515600" cy="2164894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t>Пользователь вводит с клавиатуры текст. Записать его в файл.</a:t>
            </a:r>
          </a:p>
        </p:txBody>
      </p:sp>
      <p:sp>
        <p:nvSpPr>
          <p:cNvPr hidden="false" id="135" name="Shape 135"/>
          <p:cNvSpPr txBox="true"/>
          <p:nvPr isPhoto="false"/>
        </p:nvSpPr>
        <p:spPr>
          <a:xfrm flipH="false" flipV="false" rot="0">
            <a:off x="448275" y="1998362"/>
            <a:ext cx="3600002" cy="5302584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os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1. Запрашиваем текст у пользователя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= input("Введите текст для записи в файл: ")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2. Указываем полный путь к файлу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Внимание: проверьте, правильно ли указан год (202C или 2025/2026)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directory = "/home/user/2025/202C/"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filename = "output.txt"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full_path = os.path.join(directory, filename)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3. Создаем директорию, если она не существует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exist_ok=True позволяет не вызывать ошибку, если папка уже есть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os.makedirs(directory, exist_ok=True)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4. Записываем текст в файл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try: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with open(full_path, "w", encoding="utf-8") as file: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file.write(text)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print(f"Текст успешно записан в файл: {full_path}")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 PermissionError: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print("Ошибка: Нет прав доступа для записи в эту директорию.")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 Exception as e: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sz="1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print(f"Произошла ошибка при записи файла: {e}")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6" name="GroupShape 1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7" name="Shape 137"/>
          <p:cNvSpPr txBox="true"/>
          <p:nvPr isPhoto="false">
            <p:ph idx="0" type="title"/>
          </p:nvPr>
        </p:nvSpPr>
        <p:spPr>
          <a:xfrm flipH="false" flipV="false" rot="0">
            <a:off x="5366064" y="355693"/>
            <a:ext cx="6401554" cy="2381800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90000"/>
              </a:lnSpc>
              <a:buNone/>
            </a:pPr>
            <a:r>
              <a:rPr sz="2000"/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sz="2000"/>
              <a:t>[N,M]</a:t>
            </a:r>
            <a:r>
              <a:rPr sz="2000"/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</a:p>
        </p:txBody>
      </p:sp>
      <p:sp>
        <p:nvSpPr>
          <p:cNvPr hidden="false" id="138" name="Shape 138"/>
          <p:cNvSpPr txBox="true"/>
          <p:nvPr isPhoto="false"/>
        </p:nvSpPr>
        <p:spPr>
          <a:xfrm flipH="false" flipV="false" rot="0">
            <a:off x="-164719" y="-274433"/>
            <a:ext cx="8966067" cy="12185886"/>
          </a:xfrm>
          <a:prstGeom prst="rect">
            <a:avLst/>
          </a:prstGeom>
        </p:spPr>
        <p:txBody>
          <a:bodyPr anchor="t" bIns="46800" lIns="90000" rIns="90000" tIns="46800" vert="horz" wrap="square">
            <a:spAutoFit/>
          </a:bodyPr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Код: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math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 play_game():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print("--- Игра: Компьютер угадывает ваше число ---")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# 1. Получаем диапазон от пользователя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try: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N = int(input("Введите начало диапазона (N):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M = int(input("Введите конец диапазона (M): "))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 N &gt; M: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print("Ошибка: Начало диапазона не может быть больше конца.")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return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except ValueError: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print("Ошибка: Пожалуйста, вводите целые числа.")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return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# Инициализируем границы поиска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low = 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high = M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attempts = 0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print(f"\nЗагадайте число от {N} до {M}.")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print("Отвечайте честно:")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  '&gt;' если ваше число БОЛЬШЕ предложенного")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  '&lt;' если ваше число МЕНЬШЕ предложенного")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  '=' если компьютер УГАДАЛ")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print("-" * 30)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while low &lt;= high: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# Вычисляем середину текущего диапазона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# Используем целочисленное деление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mid = (low + high) // 2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attempts +=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# Спрашиваем пользователя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response = input(f"Попытка #{attempts}. Ваше число больше, меньше или равно {mid}? (&gt; &lt; =): ").strip().lower()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 response == '=':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print(f"\n🎉 Ура! Компьютер угадал число {mid} за {attempts} попыток!")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# Максимально возможное количество попыток для этого диапазона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max_attempts = math.ceil(math.log2(M - N + 1))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print(f"(Максимально необходимое кол-во попыток для этого диапазона: {max_attempts})")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return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elif response == '&gt;':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# Число больше mid, значит нижняя граница сдвигается на mid + 1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low = mid + 1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elif response == '&lt;':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# Число меньше mid, значит верхняя граница сдвигается на mid - 1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high = mid - 1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else: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print("⚠️ Неверный ввод. Используйте символы &gt;, &lt; или =.")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attempts -= 1 # Не считаем эту попытку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# Если цикл закончился, а мы не угадали, значит пользователь ошибся в ответах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print("\n❌ Ошибка! Похоже, вы запутались в ответах или ошиблись при вводе,")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print("так как такого числа в заданном диапазоне не существует.")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# Запуск игры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__name__ == "__main__":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play_game()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MyOffice-CoreFramework-Linux/38-1384.1107.10199.1019.1@18975027e3ee4b688e27426d4a78178cb841a344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terms:modified xsi:type="dcterms:W3CDTF">2026-05-15T20:42:42Z</dcterms:modified>
</cp:coreProperties>
</file>